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8229600" cy="14630400"/>
  <p:embeddedFontLst>
    <p:embeddedFont>
      <p:font typeface="Geist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62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1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644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9400"/>
            <a:ext cx="12886253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AI-Powered Silent Speech Recognition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97242"/>
            <a:ext cx="6421041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Final Year Project (FYP)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525083"/>
            <a:ext cx="5835848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Muhammad Waleed Wazir 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4205526"/>
            <a:ext cx="4536519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Mohammad Adil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93790" y="4885968"/>
            <a:ext cx="5670590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Supervisor:</a:t>
            </a:r>
            <a:endParaRPr lang="en-US" sz="4450" dirty="0"/>
          </a:p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MS. Sadia Zar</a:t>
            </a:r>
            <a:endParaRPr lang="en-US" sz="4450" dirty="0"/>
          </a:p>
        </p:txBody>
      </p:sp>
      <p:sp>
        <p:nvSpPr>
          <p:cNvPr id="10" name="Rounded Rectangle 9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9404"/>
            <a:ext cx="4536519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9427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2976801"/>
            <a:ext cx="340162" cy="44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013591"/>
            <a:ext cx="3421499" cy="331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Silent Speech Recognition is an emerging area of Artificial Intelligence that focuses on converting lip movements into textual output without using audio signals.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35893" y="29427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20963" y="2976801"/>
            <a:ext cx="340162" cy="44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5973008" y="3013591"/>
            <a:ext cx="3421499" cy="257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This project presents an AI-powered mobile application that allows users to upload silent videos and receive predicted text using lip-reading technology.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77995" y="29427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3065" y="2976801"/>
            <a:ext cx="340162" cy="44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0415111" y="3013591"/>
            <a:ext cx="3421499" cy="29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system is developed using Flutter for the mobile application and integrates a pre-trained deep learning model via Replicate API through a Flask backend.</a:t>
            </a:r>
            <a:endParaRPr lang="en-US" sz="2200" dirty="0"/>
          </a:p>
        </p:txBody>
      </p:sp>
      <p:sp>
        <p:nvSpPr>
          <p:cNvPr id="12" name="Rounded Rectangle 11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7010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93775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4008596"/>
            <a:ext cx="3421499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This project focuses on silent speech recognition using lip-reading.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35893" y="393775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73008" y="4008596"/>
            <a:ext cx="3421499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pre-trained deep learning model is accessed via Replicate API.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77995" y="393775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15111" y="4008596"/>
            <a:ext cx="3421499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system converts silent lip movements into readable text.</a:t>
            </a:r>
            <a:endParaRPr lang="en-US" sz="2200" dirty="0"/>
          </a:p>
        </p:txBody>
      </p:sp>
      <p:sp>
        <p:nvSpPr>
          <p:cNvPr id="9" name="Rounded Rectangle 8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2934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713678"/>
            <a:ext cx="6407944" cy="883087"/>
          </a:xfrm>
          <a:prstGeom prst="roundRect">
            <a:avLst>
              <a:gd name="adj" fmla="val 16567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713678"/>
            <a:ext cx="121920" cy="883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970973"/>
            <a:ext cx="4860727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Assist speech-impaired individuals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428548" y="3713678"/>
            <a:ext cx="6408063" cy="883087"/>
          </a:xfrm>
          <a:prstGeom prst="roundRect">
            <a:avLst>
              <a:gd name="adj" fmla="val 16567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3713678"/>
            <a:ext cx="121920" cy="8830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7282" y="3970973"/>
            <a:ext cx="5107186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Enable communication without audio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93790" y="4823579"/>
            <a:ext cx="6407944" cy="883087"/>
          </a:xfrm>
          <a:prstGeom prst="roundRect">
            <a:avLst>
              <a:gd name="adj" fmla="val 16567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23579"/>
            <a:ext cx="121920" cy="8830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2524" y="5080873"/>
            <a:ext cx="4959548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Integrate AI using cloud-based APIs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7428548" y="4823579"/>
            <a:ext cx="6408063" cy="883087"/>
          </a:xfrm>
          <a:prstGeom prst="roundRect">
            <a:avLst>
              <a:gd name="adj" fmla="val 16567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823579"/>
            <a:ext cx="121920" cy="8830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7282" y="5080873"/>
            <a:ext cx="5305544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Develop a practical mobile application</a:t>
            </a:r>
            <a:endParaRPr lang="en-US" sz="2200" dirty="0"/>
          </a:p>
        </p:txBody>
      </p:sp>
      <p:sp>
        <p:nvSpPr>
          <p:cNvPr id="15" name="Rounded Rectangle 14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7089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7833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84188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158496"/>
            <a:ext cx="4196358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Speech-impaired individuals face challenges in verbal communication.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216962" y="3617833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984188"/>
            <a:ext cx="4196358" cy="3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6962" y="4158496"/>
            <a:ext cx="4196358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Conventional speech recognition systems depend on audio input.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640133" y="3617833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984188"/>
            <a:ext cx="4196358" cy="30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0133" y="4158496"/>
            <a:ext cx="4196358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There is a need for a vision-based system that understands speech using lip movements.</a:t>
            </a:r>
            <a:endParaRPr lang="en-US" sz="2200" dirty="0"/>
          </a:p>
        </p:txBody>
      </p:sp>
      <p:sp>
        <p:nvSpPr>
          <p:cNvPr id="12" name="Rounded Rectangle 11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0758"/>
            <a:ext cx="4536519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Methodology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344103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10458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884765"/>
            <a:ext cx="3158728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Video Input (User Side)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389352"/>
            <a:ext cx="419635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selects or records a silent video from mobile gallery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344103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710458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2884765"/>
            <a:ext cx="3837146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 Processing (Flask)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389352"/>
            <a:ext cx="419635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Video uploaded from mobile to Flask backend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16962" y="4058245"/>
            <a:ext cx="419635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Video is stored in Supabase cloud storage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9640133" y="2344103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733080"/>
            <a:ext cx="4196358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0133" y="2884765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Prediction 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640133" y="3389352"/>
            <a:ext cx="419635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Backend sends video to API for prediction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9640133" y="4058245"/>
            <a:ext cx="419635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API returns predicted text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5044678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88293"/>
            <a:ext cx="6407944" cy="30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3790" y="558534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Result Display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93790" y="6089928"/>
            <a:ext cx="640794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Predicted text is displayed on app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93790" y="6464022"/>
            <a:ext cx="640794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can view results instantly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428548" y="5044678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88293"/>
            <a:ext cx="6407944" cy="30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28548" y="558534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History &amp; Storage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428548" y="6089928"/>
            <a:ext cx="640794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Predicted results and video link saved in Supabase</a:t>
            </a:r>
            <a:endParaRPr lang="en-US" sz="1750" dirty="0"/>
          </a:p>
        </p:txBody>
      </p:sp>
      <p:sp>
        <p:nvSpPr>
          <p:cNvPr id="26" name="Text 19"/>
          <p:cNvSpPr/>
          <p:nvPr/>
        </p:nvSpPr>
        <p:spPr>
          <a:xfrm>
            <a:off x="7428548" y="6464022"/>
            <a:ext cx="640794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can access previous predictions from History screen</a:t>
            </a:r>
            <a:endParaRPr lang="en-US" sz="1750" dirty="0"/>
          </a:p>
        </p:txBody>
      </p:sp>
      <p:sp>
        <p:nvSpPr>
          <p:cNvPr id="27" name="Rounded Rectangle 26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4999"/>
            <a:ext cx="3402330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6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Scope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299960" y="1840944"/>
            <a:ext cx="30480" cy="5443537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sp>
        <p:nvSpPr>
          <p:cNvPr id="4" name="Shape 2"/>
          <p:cNvSpPr/>
          <p:nvPr/>
        </p:nvSpPr>
        <p:spPr>
          <a:xfrm>
            <a:off x="6665238" y="273296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89" y="2663190"/>
            <a:ext cx="170021" cy="170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3790" y="1840944"/>
            <a:ext cx="5840968" cy="1814513"/>
          </a:xfrm>
          <a:prstGeom prst="roundRect">
            <a:avLst>
              <a:gd name="adj" fmla="val 525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3464" y="2090618"/>
            <a:ext cx="5341620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Focuses on lip-reading technology to interpret speech using visual cues only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284720" y="409384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89" y="4024074"/>
            <a:ext cx="170021" cy="17002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95642" y="3201829"/>
            <a:ext cx="5840968" cy="1814513"/>
          </a:xfrm>
          <a:prstGeom prst="roundRect">
            <a:avLst>
              <a:gd name="adj" fmla="val 525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45316" y="3451503"/>
            <a:ext cx="5341620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Aims to assist deaf and hearing-impaired individuals in understanding spoken content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665238" y="522791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89" y="5158145"/>
            <a:ext cx="170021" cy="17002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93790" y="4335899"/>
            <a:ext cx="5840968" cy="1814513"/>
          </a:xfrm>
          <a:prstGeom prst="roundRect">
            <a:avLst>
              <a:gd name="adj" fmla="val 525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43464" y="4585573"/>
            <a:ext cx="5341620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Enables speech interpretation from silent or muted video sources where audio is unavailable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284720" y="6361986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89" y="6292215"/>
            <a:ext cx="170021" cy="17002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95642" y="5469969"/>
            <a:ext cx="5840968" cy="1814513"/>
          </a:xfrm>
          <a:prstGeom prst="roundRect">
            <a:avLst>
              <a:gd name="adj" fmla="val 525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45316" y="5719643"/>
            <a:ext cx="5341620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Can be applied to scenarios such as muted surveillance or recorded video footage</a:t>
            </a:r>
            <a:endParaRPr lang="en-US" sz="2200" dirty="0"/>
          </a:p>
        </p:txBody>
      </p:sp>
      <p:sp>
        <p:nvSpPr>
          <p:cNvPr id="20" name="Rounded Rectangle 19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782"/>
            <a:ext cx="5559862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 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391" y="1838444"/>
            <a:ext cx="8369617" cy="5662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33331" y="4214992"/>
            <a:ext cx="1524044" cy="72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AIPSSRS-System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811071" y="5840290"/>
            <a:ext cx="2267286" cy="36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 Server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811071" y="6301839"/>
            <a:ext cx="2267286" cy="54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Flask API handling uploads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97635" y="5794986"/>
            <a:ext cx="2267286" cy="72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Model Service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497635" y="6618961"/>
            <a:ext cx="2267286" cy="271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Pre-Trained Model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6196" y="2419517"/>
            <a:ext cx="1949970" cy="371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Cloud Storage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497635" y="2883196"/>
            <a:ext cx="2267286" cy="271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Video storage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97635" y="3254140"/>
            <a:ext cx="2267286" cy="271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History storage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25592" y="2437134"/>
            <a:ext cx="2267287" cy="72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825592" y="3261109"/>
            <a:ext cx="2267287" cy="271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14" name="Rounded Rectangle 13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3312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&amp; API Usage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73937"/>
            <a:ext cx="2594491" cy="283488"/>
          </a:xfrm>
          <a:prstGeom prst="roundRect">
            <a:avLst>
              <a:gd name="adj" fmla="val 33606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3790" y="4440793"/>
            <a:ext cx="3048000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Pre-trained silent speech recognition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25278" y="3873937"/>
            <a:ext cx="2594610" cy="283488"/>
          </a:xfrm>
          <a:prstGeom prst="roundRect">
            <a:avLst>
              <a:gd name="adj" fmla="val 33606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25278" y="4440793"/>
            <a:ext cx="304811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hosted on Replicate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56884" y="3873937"/>
            <a:ext cx="2594610" cy="283488"/>
          </a:xfrm>
          <a:prstGeom prst="roundRect">
            <a:avLst>
              <a:gd name="adj" fmla="val 33606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6884" y="4440793"/>
            <a:ext cx="304811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Accessed via REST API calls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788491" y="3873937"/>
            <a:ext cx="2594610" cy="283488"/>
          </a:xfrm>
          <a:prstGeom prst="roundRect">
            <a:avLst>
              <a:gd name="adj" fmla="val 33606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8491" y="4440793"/>
            <a:ext cx="304811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local training or GPU dependency</a:t>
            </a:r>
            <a:endParaRPr lang="en-US" sz="2200" dirty="0"/>
          </a:p>
        </p:txBody>
      </p:sp>
      <p:sp>
        <p:nvSpPr>
          <p:cNvPr id="11" name="Rounded Rectangle 10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9986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 Processing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80730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114800"/>
            <a:ext cx="3184208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Short silent video clips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980730"/>
            <a:ext cx="6521410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42014" y="4114800"/>
            <a:ext cx="4130993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Lip movement focused videos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710113"/>
            <a:ext cx="6521410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0604" y="5844183"/>
            <a:ext cx="4079677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Uploaded from mobile gallery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710113"/>
            <a:ext cx="6521410" cy="90725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542014" y="5844183"/>
            <a:ext cx="3404116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Sent to API for inference</a:t>
            </a:r>
            <a:endParaRPr lang="en-US" sz="2200" dirty="0"/>
          </a:p>
        </p:txBody>
      </p:sp>
      <p:sp>
        <p:nvSpPr>
          <p:cNvPr id="11" name="Rounded Rectangle 10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5690"/>
            <a:ext cx="5103614" cy="663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 Screens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529" y="1901428"/>
            <a:ext cx="3613547" cy="44107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5429" y="6518910"/>
            <a:ext cx="255174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7034213"/>
            <a:ext cx="4015145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214" y="1901428"/>
            <a:ext cx="3593663" cy="44330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46113" y="6541175"/>
            <a:ext cx="255174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Sign Up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314474" y="7056477"/>
            <a:ext cx="4015145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8145" y="1901428"/>
            <a:ext cx="1929051" cy="44013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66797" y="6509504"/>
            <a:ext cx="255174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835158" y="7024807"/>
            <a:ext cx="4015145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022"/>
            <a:ext cx="4820007" cy="626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986" y="1805583"/>
            <a:ext cx="2031206" cy="4634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5558" y="6624280"/>
            <a:ext cx="2409944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8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Video Upload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93790" y="7101364"/>
            <a:ext cx="4033599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503" y="1805583"/>
            <a:ext cx="2031206" cy="46343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17074" y="6624280"/>
            <a:ext cx="2409944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8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Recognition Result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05306" y="7101364"/>
            <a:ext cx="4033599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8019" y="1805583"/>
            <a:ext cx="2031206" cy="46343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28590" y="6624280"/>
            <a:ext cx="2409944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8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History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816822" y="7101364"/>
            <a:ext cx="4033599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12" name="Rounded Rectangle 11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6569"/>
            <a:ext cx="6549747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Strengths &amp; Limitations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53847"/>
            <a:ext cx="13042821" cy="2999184"/>
          </a:xfrm>
          <a:prstGeom prst="roundRect">
            <a:avLst>
              <a:gd name="adj" fmla="val 317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161467"/>
            <a:ext cx="13027581" cy="6559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305175"/>
            <a:ext cx="605635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45824" y="3305175"/>
            <a:ext cx="605635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1410" y="3817382"/>
            <a:ext cx="13027581" cy="23280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3961090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implementation with reliable AI inference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224" y="4323874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Mobile-based solution for easy accessibility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8224" y="4686657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Cloud storage integration for history and backup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224" y="5049441"/>
            <a:ext cx="6056352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Helps hearing-impaired users by converting lip movements to text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224" y="5707023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Scalable system due to cloud-based processing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3961090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Requires internet for AI predictions (Replicate API)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5824" y="4323874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 real-time (processes pre-recorded videos only)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4686657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Accuracy depends on video quality and lighting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049441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Limited language support (English only)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824" y="5412224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Dependent on third-party API availability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824" y="5775008"/>
            <a:ext cx="605635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live camera lip-reading in this phase</a:t>
            </a:r>
            <a:endParaRPr lang="en-US" sz="1750" dirty="0"/>
          </a:p>
        </p:txBody>
      </p:sp>
      <p:sp>
        <p:nvSpPr>
          <p:cNvPr id="19" name="Rounded Rectangle 18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4694"/>
            <a:ext cx="5703808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Results &amp; Evaluation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2555438"/>
            <a:ext cx="30480" cy="4309467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sp>
        <p:nvSpPr>
          <p:cNvPr id="4" name="Shape 2"/>
          <p:cNvSpPr/>
          <p:nvPr/>
        </p:nvSpPr>
        <p:spPr>
          <a:xfrm>
            <a:off x="6665238" y="344745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89" y="3377684"/>
            <a:ext cx="170021" cy="170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3790" y="2555438"/>
            <a:ext cx="5840968" cy="1814513"/>
          </a:xfrm>
          <a:prstGeom prst="roundRect">
            <a:avLst>
              <a:gd name="adj" fmla="val 525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3464" y="2805113"/>
            <a:ext cx="53416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Accurate recognition for short silent videos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284720" y="480833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89" y="4738568"/>
            <a:ext cx="170021" cy="17002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95642" y="3916323"/>
            <a:ext cx="5840968" cy="1814513"/>
          </a:xfrm>
          <a:prstGeom prst="roundRect">
            <a:avLst>
              <a:gd name="adj" fmla="val 525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45316" y="4165997"/>
            <a:ext cx="53416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Fast response time using cloud inference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665238" y="594240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002A8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89" y="5872639"/>
            <a:ext cx="170021" cy="17002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93790" y="5050393"/>
            <a:ext cx="5840968" cy="1814513"/>
          </a:xfrm>
          <a:prstGeom prst="roundRect">
            <a:avLst>
              <a:gd name="adj" fmla="val 525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43464" y="5300067"/>
            <a:ext cx="53416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Stable performance without local processing</a:t>
            </a:r>
            <a:endParaRPr lang="en-US" sz="2200" dirty="0"/>
          </a:p>
        </p:txBody>
      </p:sp>
      <p:sp>
        <p:nvSpPr>
          <p:cNvPr id="16" name="Rounded Rectangle 15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3296"/>
            <a:ext cx="7194947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214920" y="2907387"/>
            <a:ext cx="3402330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6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76518"/>
            <a:ext cx="624470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Developed an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AI-powered Silent Speech Recognition System (AIPSRS)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45412"/>
            <a:ext cx="624470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Successfully integrated a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pre-trained lip-reading model via Replicate API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14305"/>
            <a:ext cx="624470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a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 application (Flutter)</a:t>
            </a: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user-friendly interface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83198"/>
            <a:ext cx="624470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Implemented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Flask backend</a:t>
            </a: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Supabase cloud storage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252091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voice output</a:t>
            </a: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predicted text (Text-to-Speech)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304258" y="290738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502700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lip-reading</a:t>
            </a: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using live camera feed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876794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 accuracy using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 model training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250888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multi-language support</a:t>
            </a: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(Urdu, Arabic, etc.)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624983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 </a:t>
            </a: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offline prediction</a:t>
            </a: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1750" dirty="0"/>
          </a:p>
        </p:txBody>
      </p:sp>
      <p:sp>
        <p:nvSpPr>
          <p:cNvPr id="14" name="Rounded Rectangle 13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703126" y="7737231"/>
            <a:ext cx="1828800" cy="393895"/>
          </a:xfrm>
          <a:prstGeom prst="roundRect">
            <a:avLst/>
          </a:prstGeom>
          <a:solidFill>
            <a:srgbClr val="101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83249" y="1516245"/>
            <a:ext cx="1694888" cy="145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800"/>
              </a:lnSpc>
            </a:pPr>
            <a:r>
              <a:rPr lang="en-US" sz="2000" b="1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</a:rPr>
              <a:t>Demo Video:</a:t>
            </a:r>
          </a:p>
          <a:p>
            <a:pPr>
              <a:lnSpc>
                <a:spcPts val="5800"/>
              </a:lnSpc>
            </a:pPr>
            <a:endParaRPr lang="en-US" dirty="0"/>
          </a:p>
        </p:txBody>
      </p:sp>
      <p:pic>
        <p:nvPicPr>
          <p:cNvPr id="4" name="WhatsApp Video 2026-01-22 at 11.53.47 A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43550" y="1516244"/>
            <a:ext cx="3543300" cy="663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0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597</Words>
  <Application>Microsoft Office PowerPoint</Application>
  <PresentationFormat>Custom</PresentationFormat>
  <Paragraphs>128</Paragraphs>
  <Slides>16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Geist</vt:lpstr>
      <vt:lpstr>Geist Bold</vt:lpstr>
      <vt:lpstr>Geist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Muhammad Waleed</dc:creator>
  <cp:lastModifiedBy>Muhammad Waleed</cp:lastModifiedBy>
  <cp:revision>4</cp:revision>
  <dcterms:created xsi:type="dcterms:W3CDTF">2026-01-21T22:21:31Z</dcterms:created>
  <dcterms:modified xsi:type="dcterms:W3CDTF">2026-01-22T07:40:11Z</dcterms:modified>
</cp:coreProperties>
</file>